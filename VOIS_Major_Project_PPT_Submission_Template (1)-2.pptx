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40" r:id="rId10"/>
    <p:sldId id="344" r:id="rId11"/>
    <p:sldId id="347"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5444F5-814B-9068-8335-C58FDAA2BA36}" v="2" dt="2026-09-09T06:24:20.804"/>
    <p1510:client id="{CA93FD1C-CC24-9DAB-865C-55254BD53DF0}" v="11" dt="2026-09-09T07:10:19.096"/>
    <p1510:client id="{E31893C7-D3CC-B2EC-F40A-9E8CDDEDB319}" v="214" dt="2026-09-07T07:41:06.448"/>
    <p1510:client id="{FA345978-8F22-84F8-D88F-66001C7083BC}" v="250" dt="2026-09-09T06:53:07.467"/>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mxnishhh/VOIS_Major_Projec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29950" y="3248468"/>
            <a:ext cx="5466601" cy="861497"/>
          </a:xfrm>
        </p:spPr>
        <p:txBody>
          <a:bodyPr vert="horz" lIns="91440" tIns="45720" rIns="91440" bIns="45720" rtlCol="0" anchor="t">
            <a:normAutofit/>
          </a:bodyPr>
          <a:lstStyle/>
          <a:p>
            <a:r>
              <a:rPr lang="en-US" dirty="0">
                <a:solidFill>
                  <a:schemeClr val="tx1"/>
                </a:solidFill>
              </a:rPr>
              <a:t>Student Name:</a:t>
            </a:r>
            <a:r>
              <a:rPr lang="en-US" b="0" dirty="0">
                <a:solidFill>
                  <a:schemeClr val="tx1"/>
                </a:solidFill>
              </a:rPr>
              <a:t> Manish  Kumar Mondal</a:t>
            </a:r>
            <a:endParaRPr lang="en-US">
              <a:solidFill>
                <a:schemeClr val="tx1"/>
              </a:solidFill>
            </a:endParaRPr>
          </a:p>
          <a:p>
            <a:r>
              <a:rPr lang="en-US" dirty="0">
                <a:solidFill>
                  <a:schemeClr val="tx1"/>
                </a:solidFill>
              </a:rPr>
              <a:t>College Name:</a:t>
            </a:r>
            <a:r>
              <a:rPr lang="en-US" b="0" dirty="0">
                <a:solidFill>
                  <a:schemeClr val="tx1"/>
                </a:solidFill>
              </a:rPr>
              <a:t> Adamas University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28668" y="2571425"/>
            <a:ext cx="10146361" cy="743447"/>
          </a:xfrm>
        </p:spPr>
        <p:txBody>
          <a:bodyPr>
            <a:normAutofit/>
          </a:bodyPr>
          <a:lstStyle/>
          <a:p>
            <a:r>
              <a:rPr lang="en-GB" b="1" dirty="0"/>
              <a:t>Project Title:</a:t>
            </a:r>
            <a:r>
              <a:rPr lang="en-GB" sz="3200" b="1" dirty="0"/>
              <a:t> </a:t>
            </a:r>
            <a:r>
              <a:rPr lang="en-GB" sz="24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37459" y="4166480"/>
            <a:ext cx="9071077" cy="369332"/>
          </a:xfrm>
          <a:prstGeom prst="rect">
            <a:avLst/>
          </a:prstGeom>
          <a:noFill/>
        </p:spPr>
        <p:txBody>
          <a:bodyPr wrap="square" lIns="91440" tIns="45720" rIns="91440" bIns="45720" rtlCol="0" anchor="t">
            <a:spAutoFit/>
          </a:bodyPr>
          <a:lstStyle/>
          <a:p>
            <a:r>
              <a:rPr lang="en-US" b="1" dirty="0"/>
              <a:t>AICTE STU ID : </a:t>
            </a:r>
            <a:r>
              <a:rPr lang="en-US" dirty="0">
                <a:ea typeface="+mn-lt"/>
                <a:cs typeface="+mn-lt"/>
              </a:rPr>
              <a:t>STU6a64896a3ff3a1784973674</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2198577"/>
            <a:ext cx="6538954" cy="4133933"/>
          </a:xfrm>
        </p:spPr>
        <p:txBody>
          <a:bodyPr vert="horz" lIns="91440" tIns="45720" rIns="91440" bIns="45720" rtlCol="0" anchor="t">
            <a:normAutofit fontScale="775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06399" y="800421"/>
            <a:ext cx="6276109" cy="830997"/>
          </a:xfrm>
        </p:spPr>
        <p:txBody>
          <a:bodyPr>
            <a:normAutofit fontScale="90000"/>
          </a:bodyPr>
          <a:lstStyle/>
          <a:p>
            <a:r>
              <a:rPr lang="en-GB" u="sng" dirty="0"/>
              <a:t>Project Description:</a:t>
            </a:r>
          </a:p>
          <a:p>
            <a:r>
              <a:rPr lang="en-GB" sz="1800" dirty="0">
                <a:ea typeface="+mj-lt"/>
                <a:cs typeface="+mj-lt"/>
              </a:rPr>
              <a:t>Seasonal Agriculture Performance Analysis</a:t>
            </a:r>
            <a:r>
              <a:rPr lang="en-GB" sz="1800" b="0" dirty="0">
                <a:ea typeface="+mj-lt"/>
                <a:cs typeface="+mj-lt"/>
              </a:rPr>
              <a:t> is a data analytics project focused on understanding how agricultural performance changes across different seasons. The project uses a dataset containing </a:t>
            </a:r>
            <a:r>
              <a:rPr lang="en-GB" sz="1800" dirty="0">
                <a:ea typeface="+mj-lt"/>
                <a:cs typeface="+mj-lt"/>
              </a:rPr>
              <a:t>4,000 farm-level records and 28 variables</a:t>
            </a:r>
            <a:r>
              <a:rPr lang="en-GB" sz="1800" b="0" dirty="0">
                <a:ea typeface="+mj-lt"/>
                <a:cs typeface="+mj-lt"/>
              </a:rPr>
              <a:t>, covering information such as crops, locations, weather conditions, soil characteristics, irrigation methods, agricultural inputs, yield, production, water usage and economic outcomes.</a:t>
            </a:r>
            <a:br>
              <a:rPr lang="en-GB" sz="1800" b="0" dirty="0">
                <a:ea typeface="+mj-lt"/>
                <a:cs typeface="+mj-lt"/>
              </a:rPr>
            </a:br>
            <a:endParaRPr lang="en-GB" sz="1800"/>
          </a:p>
          <a:p>
            <a:r>
              <a:rPr lang="en-GB" sz="1800" b="0" dirty="0">
                <a:ea typeface="+mj-lt"/>
                <a:cs typeface="+mj-lt"/>
              </a:rPr>
              <a:t>The analysis explores </a:t>
            </a:r>
            <a:r>
              <a:rPr lang="en-GB" sz="1800" dirty="0">
                <a:ea typeface="+mj-lt"/>
                <a:cs typeface="+mj-lt"/>
              </a:rPr>
              <a:t>seasonal patterns, trends, relationships and variations</a:t>
            </a:r>
            <a:r>
              <a:rPr lang="en-GB" sz="1800" b="0" dirty="0">
                <a:ea typeface="+mj-lt"/>
                <a:cs typeface="+mj-lt"/>
              </a:rPr>
              <a:t> in agricultural performance. It compares yield, production, profit, resource usage and environmental conditions across seasons, crops, states and irrigation methods. Statistical and visualization techniques are used to identify significant differences, relationships and unusual observations.</a:t>
            </a:r>
            <a:br>
              <a:rPr lang="en-GB" sz="1800" b="0" dirty="0">
                <a:ea typeface="+mj-lt"/>
                <a:cs typeface="+mj-lt"/>
              </a:rPr>
            </a:br>
            <a:endParaRPr lang="en-GB" sz="1800"/>
          </a:p>
          <a:p>
            <a:r>
              <a:rPr lang="en-GB" sz="1800" b="0" dirty="0">
                <a:ea typeface="+mj-lt"/>
                <a:cs typeface="+mj-lt"/>
              </a:rPr>
              <a:t>The project ultimately aims to generate </a:t>
            </a:r>
            <a:r>
              <a:rPr lang="en-GB" sz="1800" dirty="0">
                <a:ea typeface="+mj-lt"/>
                <a:cs typeface="+mj-lt"/>
              </a:rPr>
              <a:t>evidence-based insights and practical recommendations</a:t>
            </a:r>
            <a:r>
              <a:rPr lang="en-GB" sz="1800" b="0" dirty="0">
                <a:ea typeface="+mj-lt"/>
                <a:cs typeface="+mj-lt"/>
              </a:rPr>
              <a:t> that can help in understanding seasonal agricultural performance and support better agricultural planning and resource management.</a:t>
            </a:r>
            <a:endParaRPr lang="en-GB" sz="1800"/>
          </a:p>
          <a:p>
            <a:endParaRPr lang="en-GB" sz="44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6241499" cy="4502816"/>
          </a:xfrm>
        </p:spPr>
        <p:txBody>
          <a:bodyPr vert="horz" lIns="91440" tIns="45720" rIns="91440" bIns="45720" rtlCol="0" anchor="t">
            <a:noAutofit/>
          </a:bodyPr>
          <a:lstStyle/>
          <a:p>
            <a:pPr marL="0" indent="0" algn="just">
              <a:buNone/>
            </a:pPr>
            <a:r>
              <a:rPr lang="en-IN" sz="1400" dirty="0">
                <a:latin typeface="Arial"/>
                <a:cs typeface="Arial"/>
              </a:rPr>
              <a:t>The main end users of the </a:t>
            </a:r>
            <a:r>
              <a:rPr lang="en-IN" sz="1400" b="1" dirty="0">
                <a:latin typeface="Arial"/>
                <a:cs typeface="Arial"/>
              </a:rPr>
              <a:t>Seasonal Agriculture Performance Analysis</a:t>
            </a:r>
            <a:r>
              <a:rPr lang="en-IN" sz="1400" dirty="0">
                <a:latin typeface="Arial"/>
                <a:cs typeface="Arial"/>
              </a:rPr>
              <a:t> project are:</a:t>
            </a:r>
            <a:endParaRPr lang="en-IN" sz="1400"/>
          </a:p>
          <a:p>
            <a:pPr lvl="1" algn="just"/>
            <a:r>
              <a:rPr lang="en-IN" sz="1400" dirty="0">
                <a:latin typeface="Arial"/>
                <a:cs typeface="Arial"/>
              </a:rPr>
              <a:t>👨‍🌾 </a:t>
            </a:r>
            <a:r>
              <a:rPr lang="en-IN" sz="1400" b="1" dirty="0">
                <a:latin typeface="Arial"/>
                <a:cs typeface="Arial"/>
              </a:rPr>
              <a:t>Farmers</a:t>
            </a:r>
            <a:r>
              <a:rPr lang="en-IN" sz="1400" dirty="0">
                <a:latin typeface="Arial"/>
                <a:cs typeface="Arial"/>
              </a:rPr>
              <a:t> – to understand which seasons, crops and farming practices can lead to better yield and resource efficiency.</a:t>
            </a:r>
            <a:endParaRPr lang="en-IN" sz="1400"/>
          </a:p>
          <a:p>
            <a:pPr lvl="1" algn="just"/>
            <a:r>
              <a:rPr lang="en-IN" sz="1400" dirty="0">
                <a:latin typeface="Arial"/>
                <a:cs typeface="Arial"/>
              </a:rPr>
              <a:t>🏛️ </a:t>
            </a:r>
            <a:r>
              <a:rPr lang="en-IN" sz="1400" b="1" dirty="0">
                <a:latin typeface="Arial"/>
                <a:cs typeface="Arial"/>
              </a:rPr>
              <a:t>Agricultural Departments &amp; Government Authorities</a:t>
            </a:r>
            <a:r>
              <a:rPr lang="en-IN" sz="1400" dirty="0">
                <a:latin typeface="Arial"/>
                <a:cs typeface="Arial"/>
              </a:rPr>
              <a:t> – to support agricultural planning, seasonal policies and resource management.</a:t>
            </a:r>
            <a:endParaRPr lang="en-IN" sz="1400"/>
          </a:p>
          <a:p>
            <a:pPr lvl="1" algn="just"/>
            <a:r>
              <a:rPr lang="en-IN" sz="1400" dirty="0">
                <a:latin typeface="Arial"/>
                <a:cs typeface="Arial"/>
              </a:rPr>
              <a:t>👨‍🔬 </a:t>
            </a:r>
            <a:r>
              <a:rPr lang="en-IN" sz="1400" b="1" dirty="0">
                <a:latin typeface="Arial"/>
                <a:cs typeface="Arial"/>
              </a:rPr>
              <a:t>Agricultural Researchers</a:t>
            </a:r>
            <a:r>
              <a:rPr lang="en-IN" sz="1400" dirty="0">
                <a:latin typeface="Arial"/>
                <a:cs typeface="Arial"/>
              </a:rPr>
              <a:t> – to study relationships between environmental conditions, farming practices and crop performance.</a:t>
            </a:r>
            <a:endParaRPr lang="en-IN" sz="1400"/>
          </a:p>
          <a:p>
            <a:pPr lvl="1" algn="just"/>
            <a:r>
              <a:rPr lang="en-IN" sz="1400" dirty="0">
                <a:latin typeface="Arial"/>
                <a:cs typeface="Arial"/>
              </a:rPr>
              <a:t>🌾 </a:t>
            </a:r>
            <a:r>
              <a:rPr lang="en-IN" sz="1400" b="1" dirty="0">
                <a:latin typeface="Arial"/>
                <a:cs typeface="Arial"/>
              </a:rPr>
              <a:t>Agricultural Consultants</a:t>
            </a:r>
            <a:r>
              <a:rPr lang="en-IN" sz="1400" dirty="0">
                <a:latin typeface="Arial"/>
                <a:cs typeface="Arial"/>
              </a:rPr>
              <a:t> – to provide data-driven advice on crop selection, irrigation, fertilizer usage and seasonal planning.</a:t>
            </a:r>
            <a:endParaRPr lang="en-IN" sz="1400"/>
          </a:p>
          <a:p>
            <a:pPr lvl="1" algn="just"/>
            <a:r>
              <a:rPr lang="en-IN" sz="1400" dirty="0">
                <a:latin typeface="Arial"/>
                <a:cs typeface="Arial"/>
              </a:rPr>
              <a:t>🏢 </a:t>
            </a:r>
            <a:r>
              <a:rPr lang="en-IN" sz="1400" b="1" dirty="0">
                <a:latin typeface="Arial"/>
                <a:cs typeface="Arial"/>
              </a:rPr>
              <a:t>Agribusinesses &amp; Agricultural Organizations</a:t>
            </a:r>
            <a:r>
              <a:rPr lang="en-IN" sz="1400" dirty="0">
                <a:latin typeface="Arial"/>
                <a:cs typeface="Arial"/>
              </a:rPr>
              <a:t> – to understand production and economic trends across regions and seasons.</a:t>
            </a:r>
            <a:endParaRPr lang="en-IN" sz="1400">
              <a:latin typeface="Trebuchet MS" panose="020B0603020202020204"/>
              <a:cs typeface="Arial"/>
            </a:endParaRPr>
          </a:p>
          <a:p>
            <a:pPr lvl="1" algn="just"/>
            <a:r>
              <a:rPr lang="en-IN" sz="1400" dirty="0">
                <a:latin typeface="Arial"/>
                <a:cs typeface="Arial"/>
              </a:rPr>
              <a:t>💧 </a:t>
            </a:r>
            <a:r>
              <a:rPr lang="en-IN" sz="1400" b="1" dirty="0">
                <a:latin typeface="Arial"/>
                <a:cs typeface="Arial"/>
              </a:rPr>
              <a:t>Resource Management Authorities</a:t>
            </a:r>
            <a:r>
              <a:rPr lang="en-IN" sz="1400" dirty="0">
                <a:latin typeface="Arial"/>
                <a:cs typeface="Arial"/>
              </a:rPr>
              <a:t> – to </a:t>
            </a:r>
            <a:r>
              <a:rPr lang="en-IN" sz="1400" dirty="0" err="1">
                <a:latin typeface="Arial"/>
                <a:cs typeface="Arial"/>
              </a:rPr>
              <a:t>analyze</a:t>
            </a:r>
            <a:r>
              <a:rPr lang="en-IN" sz="1400" dirty="0">
                <a:latin typeface="Arial"/>
                <a:cs typeface="Arial"/>
              </a:rPr>
              <a:t> water usage and improve agricultural resource efficiency.</a:t>
            </a:r>
            <a:endParaRPr lang="en-IN" sz="140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fade">
                                      <p:cBhvr>
                                        <p:cTn id="19" dur="1000"/>
                                        <p:tgtEl>
                                          <p:spTgt spid="2">
                                            <p:txEl>
                                              <p:pRg st="1" end="1"/>
                                            </p:txEl>
                                          </p:spTgt>
                                        </p:tgtEl>
                                      </p:cBhvr>
                                    </p:animEffect>
                                    <p:anim calcmode="lin" valueType="num">
                                      <p:cBhvr>
                                        <p:cTn id="20"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
                                            <p:txEl>
                                              <p:pRg st="2" end="2"/>
                                            </p:txEl>
                                          </p:spTgt>
                                        </p:tgtEl>
                                        <p:attrNameLst>
                                          <p:attrName>style.visibility</p:attrName>
                                        </p:attrNameLst>
                                      </p:cBhvr>
                                      <p:to>
                                        <p:strVal val="visible"/>
                                      </p:to>
                                    </p:set>
                                    <p:animEffect transition="in" filter="fade">
                                      <p:cBhvr>
                                        <p:cTn id="24" dur="1000"/>
                                        <p:tgtEl>
                                          <p:spTgt spid="2">
                                            <p:txEl>
                                              <p:pRg st="2" end="2"/>
                                            </p:txEl>
                                          </p:spTgt>
                                        </p:tgtEl>
                                      </p:cBhvr>
                                    </p:animEffect>
                                    <p:anim calcmode="lin" valueType="num">
                                      <p:cBhvr>
                                        <p:cTn id="2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2">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
                                            <p:txEl>
                                              <p:pRg st="3" end="3"/>
                                            </p:txEl>
                                          </p:spTgt>
                                        </p:tgtEl>
                                        <p:attrNameLst>
                                          <p:attrName>style.visibility</p:attrName>
                                        </p:attrNameLst>
                                      </p:cBhvr>
                                      <p:to>
                                        <p:strVal val="visible"/>
                                      </p:to>
                                    </p:set>
                                    <p:animEffect transition="in" filter="fade">
                                      <p:cBhvr>
                                        <p:cTn id="29" dur="1000"/>
                                        <p:tgtEl>
                                          <p:spTgt spid="2">
                                            <p:txEl>
                                              <p:pRg st="3" end="3"/>
                                            </p:txEl>
                                          </p:spTgt>
                                        </p:tgtEl>
                                      </p:cBhvr>
                                    </p:animEffect>
                                    <p:anim calcmode="lin" valueType="num">
                                      <p:cBhvr>
                                        <p:cTn id="30"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2">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
                                            <p:txEl>
                                              <p:pRg st="4" end="4"/>
                                            </p:txEl>
                                          </p:spTgt>
                                        </p:tgtEl>
                                        <p:attrNameLst>
                                          <p:attrName>style.visibility</p:attrName>
                                        </p:attrNameLst>
                                      </p:cBhvr>
                                      <p:to>
                                        <p:strVal val="visible"/>
                                      </p:to>
                                    </p:set>
                                    <p:animEffect transition="in" filter="fade">
                                      <p:cBhvr>
                                        <p:cTn id="34" dur="1000"/>
                                        <p:tgtEl>
                                          <p:spTgt spid="2">
                                            <p:txEl>
                                              <p:pRg st="4" end="4"/>
                                            </p:txEl>
                                          </p:spTgt>
                                        </p:tgtEl>
                                      </p:cBhvr>
                                    </p:animEffect>
                                    <p:anim calcmode="lin" valueType="num">
                                      <p:cBhvr>
                                        <p:cTn id="35"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2">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2">
                                            <p:txEl>
                                              <p:pRg st="5" end="5"/>
                                            </p:txEl>
                                          </p:spTgt>
                                        </p:tgtEl>
                                        <p:attrNameLst>
                                          <p:attrName>style.visibility</p:attrName>
                                        </p:attrNameLst>
                                      </p:cBhvr>
                                      <p:to>
                                        <p:strVal val="visible"/>
                                      </p:to>
                                    </p:set>
                                    <p:animEffect transition="in" filter="fade">
                                      <p:cBhvr>
                                        <p:cTn id="39" dur="1000"/>
                                        <p:tgtEl>
                                          <p:spTgt spid="2">
                                            <p:txEl>
                                              <p:pRg st="5" end="5"/>
                                            </p:txEl>
                                          </p:spTgt>
                                        </p:tgtEl>
                                      </p:cBhvr>
                                    </p:animEffect>
                                    <p:anim calcmode="lin" valueType="num">
                                      <p:cBhvr>
                                        <p:cTn id="4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2">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
                                            <p:txEl>
                                              <p:pRg st="6" end="6"/>
                                            </p:txEl>
                                          </p:spTgt>
                                        </p:tgtEl>
                                        <p:attrNameLst>
                                          <p:attrName>style.visibility</p:attrName>
                                        </p:attrNameLst>
                                      </p:cBhvr>
                                      <p:to>
                                        <p:strVal val="visible"/>
                                      </p:to>
                                    </p:set>
                                    <p:animEffect transition="in" filter="fade">
                                      <p:cBhvr>
                                        <p:cTn id="44" dur="1000"/>
                                        <p:tgtEl>
                                          <p:spTgt spid="2">
                                            <p:txEl>
                                              <p:pRg st="6" end="6"/>
                                            </p:txEl>
                                          </p:spTgt>
                                        </p:tgtEl>
                                      </p:cBhvr>
                                    </p:animEffect>
                                    <p:anim calcmode="lin" valueType="num">
                                      <p:cBhvr>
                                        <p:cTn id="45"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10464800" y="3848914"/>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644618" y="1432560"/>
            <a:ext cx="8773702" cy="5267409"/>
          </a:xfrm>
        </p:spPr>
        <p:txBody>
          <a:bodyPr vert="horz" lIns="91440" tIns="45720" rIns="91440" bIns="45720" rtlCol="0" anchor="t">
            <a:normAutofit/>
          </a:bodyPr>
          <a:lstStyle/>
          <a:p>
            <a:pPr marL="0" indent="0">
              <a:lnSpc>
                <a:spcPct val="100000"/>
              </a:lnSpc>
              <a:buNone/>
            </a:pPr>
            <a:r>
              <a:rPr lang="en-IN" dirty="0">
                <a:ea typeface="+mn-lt"/>
                <a:cs typeface="+mn-lt"/>
              </a:rPr>
              <a:t>The following technologies and tools are used in the </a:t>
            </a:r>
            <a:r>
              <a:rPr lang="en-IN" b="1" dirty="0">
                <a:ea typeface="+mn-lt"/>
                <a:cs typeface="+mn-lt"/>
              </a:rPr>
              <a:t>Seasonal Agriculture Performance Analysis</a:t>
            </a:r>
            <a:r>
              <a:rPr lang="en-IN" dirty="0">
                <a:ea typeface="+mn-lt"/>
                <a:cs typeface="+mn-lt"/>
              </a:rPr>
              <a:t> project:</a:t>
            </a:r>
            <a:endParaRPr lang="en-IN" dirty="0"/>
          </a:p>
          <a:p>
            <a:pPr>
              <a:lnSpc>
                <a:spcPct val="150000"/>
              </a:lnSpc>
            </a:pPr>
            <a:r>
              <a:rPr lang="en-IN" dirty="0">
                <a:ea typeface="+mn-lt"/>
                <a:cs typeface="+mn-lt"/>
              </a:rPr>
              <a:t>🐍 </a:t>
            </a:r>
            <a:r>
              <a:rPr lang="en-IN" b="1" dirty="0">
                <a:ea typeface="+mn-lt"/>
                <a:cs typeface="+mn-lt"/>
              </a:rPr>
              <a:t>Python</a:t>
            </a:r>
            <a:r>
              <a:rPr lang="en-IN" dirty="0">
                <a:ea typeface="+mn-lt"/>
                <a:cs typeface="+mn-lt"/>
              </a:rPr>
              <a:t> – Main programming language used for data analysis.</a:t>
            </a:r>
            <a:endParaRPr lang="en-IN" dirty="0"/>
          </a:p>
          <a:p>
            <a:pPr>
              <a:lnSpc>
                <a:spcPct val="150000"/>
              </a:lnSpc>
            </a:pPr>
            <a:r>
              <a:rPr lang="en-IN" dirty="0">
                <a:ea typeface="+mn-lt"/>
                <a:cs typeface="+mn-lt"/>
              </a:rPr>
              <a:t>📊 </a:t>
            </a:r>
            <a:r>
              <a:rPr lang="en-IN" b="1" dirty="0">
                <a:ea typeface="+mn-lt"/>
                <a:cs typeface="+mn-lt"/>
              </a:rPr>
              <a:t>Pandas</a:t>
            </a:r>
            <a:r>
              <a:rPr lang="en-IN" dirty="0">
                <a:ea typeface="+mn-lt"/>
                <a:cs typeface="+mn-lt"/>
              </a:rPr>
              <a:t> – Used for data cleaning, manipulation and analysis.</a:t>
            </a:r>
            <a:endParaRPr lang="en-IN" dirty="0"/>
          </a:p>
          <a:p>
            <a:pPr>
              <a:lnSpc>
                <a:spcPct val="150000"/>
              </a:lnSpc>
            </a:pPr>
            <a:r>
              <a:rPr lang="en-IN" dirty="0">
                <a:ea typeface="+mn-lt"/>
                <a:cs typeface="+mn-lt"/>
              </a:rPr>
              <a:t>🔢 </a:t>
            </a:r>
            <a:r>
              <a:rPr lang="en-IN" b="1" dirty="0">
                <a:ea typeface="+mn-lt"/>
                <a:cs typeface="+mn-lt"/>
              </a:rPr>
              <a:t>NumPy</a:t>
            </a:r>
            <a:r>
              <a:rPr lang="en-IN" dirty="0">
                <a:ea typeface="+mn-lt"/>
                <a:cs typeface="+mn-lt"/>
              </a:rPr>
              <a:t> – Used for numerical operations and calculations.</a:t>
            </a:r>
            <a:endParaRPr lang="en-IN" dirty="0"/>
          </a:p>
          <a:p>
            <a:pPr>
              <a:lnSpc>
                <a:spcPct val="150000"/>
              </a:lnSpc>
            </a:pPr>
            <a:r>
              <a:rPr lang="en-IN" dirty="0">
                <a:ea typeface="+mn-lt"/>
                <a:cs typeface="+mn-lt"/>
              </a:rPr>
              <a:t>📈 </a:t>
            </a:r>
            <a:r>
              <a:rPr lang="en-IN" b="1" dirty="0">
                <a:ea typeface="+mn-lt"/>
                <a:cs typeface="+mn-lt"/>
              </a:rPr>
              <a:t>Matplotlib</a:t>
            </a:r>
            <a:r>
              <a:rPr lang="en-IN" dirty="0">
                <a:ea typeface="+mn-lt"/>
                <a:cs typeface="+mn-lt"/>
              </a:rPr>
              <a:t> – Used to create graphs and visualizations.</a:t>
            </a:r>
            <a:endParaRPr lang="en-IN" dirty="0"/>
          </a:p>
          <a:p>
            <a:pPr>
              <a:lnSpc>
                <a:spcPct val="150000"/>
              </a:lnSpc>
            </a:pPr>
            <a:r>
              <a:rPr lang="en-IN" dirty="0">
                <a:ea typeface="+mn-lt"/>
                <a:cs typeface="+mn-lt"/>
              </a:rPr>
              <a:t>🧮 </a:t>
            </a:r>
            <a:r>
              <a:rPr lang="en-IN" b="1" dirty="0">
                <a:ea typeface="+mn-lt"/>
                <a:cs typeface="+mn-lt"/>
              </a:rPr>
              <a:t>SciPy</a:t>
            </a:r>
            <a:r>
              <a:rPr lang="en-IN" dirty="0">
                <a:ea typeface="+mn-lt"/>
                <a:cs typeface="+mn-lt"/>
              </a:rPr>
              <a:t> – Used for statistical analysis, including ANOVA.</a:t>
            </a:r>
            <a:endParaRPr lang="en-IN" dirty="0"/>
          </a:p>
          <a:p>
            <a:pPr>
              <a:lnSpc>
                <a:spcPct val="150000"/>
              </a:lnSpc>
            </a:pPr>
            <a:r>
              <a:rPr lang="en-IN" dirty="0">
                <a:ea typeface="+mn-lt"/>
                <a:cs typeface="+mn-lt"/>
              </a:rPr>
              <a:t>📓 </a:t>
            </a:r>
            <a:r>
              <a:rPr lang="en-IN" b="1" dirty="0">
                <a:ea typeface="+mn-lt"/>
                <a:cs typeface="+mn-lt"/>
              </a:rPr>
              <a:t>Jupyter Notebook</a:t>
            </a:r>
            <a:r>
              <a:rPr lang="en-IN" dirty="0">
                <a:ea typeface="+mn-lt"/>
                <a:cs typeface="+mn-lt"/>
              </a:rPr>
              <a:t> – Used to develop, document and present the complete data analysis.</a:t>
            </a:r>
            <a:endParaRPr lang="en-IN" dirty="0"/>
          </a:p>
          <a:p>
            <a:pPr>
              <a:lnSpc>
                <a:spcPct val="150000"/>
              </a:lnSpc>
            </a:pPr>
            <a:r>
              <a:rPr lang="en-IN" dirty="0">
                <a:ea typeface="+mn-lt"/>
                <a:cs typeface="+mn-lt"/>
              </a:rPr>
              <a:t>📁 </a:t>
            </a:r>
            <a:r>
              <a:rPr lang="en-IN" b="1" dirty="0">
                <a:ea typeface="+mn-lt"/>
                <a:cs typeface="+mn-lt"/>
              </a:rPr>
              <a:t>CSV Dataset</a:t>
            </a:r>
            <a:r>
              <a:rPr lang="en-IN" dirty="0">
                <a:ea typeface="+mn-lt"/>
                <a:cs typeface="+mn-lt"/>
              </a:rPr>
              <a:t> – Used as the primary source of agricultural data.</a:t>
            </a:r>
            <a:endParaRPr lang="en-IN" dirty="0"/>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2" name="Picture 1">
            <a:extLst>
              <a:ext uri="{FF2B5EF4-FFF2-40B4-BE49-F238E27FC236}">
                <a16:creationId xmlns:a16="http://schemas.microsoft.com/office/drawing/2014/main" id="{3AB657B3-F768-E9B5-1B35-79A4BC40CEB1}"/>
              </a:ext>
            </a:extLst>
          </p:cNvPr>
          <p:cNvPicPr>
            <a:picLocks noChangeAspect="1"/>
          </p:cNvPicPr>
          <p:nvPr/>
        </p:nvPicPr>
        <p:blipFill>
          <a:blip r:embed="rId3"/>
          <a:stretch>
            <a:fillRect/>
          </a:stretch>
        </p:blipFill>
        <p:spPr>
          <a:xfrm>
            <a:off x="253458" y="4089384"/>
            <a:ext cx="6166403" cy="2770453"/>
          </a:xfrm>
          <a:prstGeom prst="rect">
            <a:avLst/>
          </a:prstGeom>
        </p:spPr>
      </p:pic>
      <p:pic>
        <p:nvPicPr>
          <p:cNvPr id="3" name="Picture 2">
            <a:extLst>
              <a:ext uri="{FF2B5EF4-FFF2-40B4-BE49-F238E27FC236}">
                <a16:creationId xmlns:a16="http://schemas.microsoft.com/office/drawing/2014/main" id="{28CD9409-E93A-1153-C3D1-773DAF190BFC}"/>
              </a:ext>
            </a:extLst>
          </p:cNvPr>
          <p:cNvPicPr>
            <a:picLocks noChangeAspect="1"/>
          </p:cNvPicPr>
          <p:nvPr/>
        </p:nvPicPr>
        <p:blipFill>
          <a:blip r:embed="rId4"/>
          <a:stretch>
            <a:fillRect/>
          </a:stretch>
        </p:blipFill>
        <p:spPr>
          <a:xfrm>
            <a:off x="6894786" y="3988705"/>
            <a:ext cx="5097518" cy="2769417"/>
          </a:xfrm>
          <a:prstGeom prst="rect">
            <a:avLst/>
          </a:prstGeom>
        </p:spPr>
      </p:pic>
      <p:pic>
        <p:nvPicPr>
          <p:cNvPr id="6" name="Picture 5">
            <a:extLst>
              <a:ext uri="{FF2B5EF4-FFF2-40B4-BE49-F238E27FC236}">
                <a16:creationId xmlns:a16="http://schemas.microsoft.com/office/drawing/2014/main" id="{BC58C397-444E-C250-6591-BA0C8DA94DFD}"/>
              </a:ext>
            </a:extLst>
          </p:cNvPr>
          <p:cNvPicPr>
            <a:picLocks noChangeAspect="1"/>
          </p:cNvPicPr>
          <p:nvPr/>
        </p:nvPicPr>
        <p:blipFill>
          <a:blip r:embed="rId5"/>
          <a:stretch>
            <a:fillRect/>
          </a:stretch>
        </p:blipFill>
        <p:spPr>
          <a:xfrm>
            <a:off x="6663559" y="1415528"/>
            <a:ext cx="5328744" cy="2382074"/>
          </a:xfrm>
          <a:prstGeom prst="rect">
            <a:avLst/>
          </a:prstGeom>
        </p:spPr>
      </p:pic>
      <p:pic>
        <p:nvPicPr>
          <p:cNvPr id="9" name="Picture 8">
            <a:extLst>
              <a:ext uri="{FF2B5EF4-FFF2-40B4-BE49-F238E27FC236}">
                <a16:creationId xmlns:a16="http://schemas.microsoft.com/office/drawing/2014/main" id="{20A6DB48-C3BD-9769-0782-2DEAC19B0554}"/>
              </a:ext>
            </a:extLst>
          </p:cNvPr>
          <p:cNvPicPr>
            <a:picLocks noChangeAspect="1"/>
          </p:cNvPicPr>
          <p:nvPr/>
        </p:nvPicPr>
        <p:blipFill>
          <a:blip r:embed="rId6"/>
          <a:stretch>
            <a:fillRect/>
          </a:stretch>
        </p:blipFill>
        <p:spPr>
          <a:xfrm>
            <a:off x="189186" y="1199003"/>
            <a:ext cx="6059214" cy="279936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2" name="Picture 1">
            <a:extLst>
              <a:ext uri="{FF2B5EF4-FFF2-40B4-BE49-F238E27FC236}">
                <a16:creationId xmlns:a16="http://schemas.microsoft.com/office/drawing/2014/main" id="{CF3F3966-300A-EBD3-BFFA-1584B61AD4DE}"/>
              </a:ext>
            </a:extLst>
          </p:cNvPr>
          <p:cNvPicPr>
            <a:picLocks noChangeAspect="1"/>
          </p:cNvPicPr>
          <p:nvPr/>
        </p:nvPicPr>
        <p:blipFill>
          <a:blip r:embed="rId3"/>
          <a:stretch>
            <a:fillRect/>
          </a:stretch>
        </p:blipFill>
        <p:spPr>
          <a:xfrm>
            <a:off x="-2476" y="1429407"/>
            <a:ext cx="6689534" cy="4246180"/>
          </a:xfrm>
          <a:prstGeom prst="rect">
            <a:avLst/>
          </a:prstGeom>
        </p:spPr>
      </p:pic>
      <p:pic>
        <p:nvPicPr>
          <p:cNvPr id="9" name="Picture 8">
            <a:extLst>
              <a:ext uri="{FF2B5EF4-FFF2-40B4-BE49-F238E27FC236}">
                <a16:creationId xmlns:a16="http://schemas.microsoft.com/office/drawing/2014/main" id="{0D45C14B-3AB0-CD57-F196-F74F211E86A4}"/>
              </a:ext>
            </a:extLst>
          </p:cNvPr>
          <p:cNvPicPr>
            <a:picLocks noChangeAspect="1"/>
          </p:cNvPicPr>
          <p:nvPr/>
        </p:nvPicPr>
        <p:blipFill>
          <a:blip r:embed="rId4"/>
          <a:stretch>
            <a:fillRect/>
          </a:stretch>
        </p:blipFill>
        <p:spPr>
          <a:xfrm>
            <a:off x="6681790" y="1429407"/>
            <a:ext cx="5486721" cy="425143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ECCCF-4370-F795-AB67-A28C8105074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0C632A5-A268-8B1C-7C8A-4D1500A969F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1897127-6526-5266-FE52-E68AE0A2E3F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8" name="Text Placeholder 30">
            <a:extLst>
              <a:ext uri="{FF2B5EF4-FFF2-40B4-BE49-F238E27FC236}">
                <a16:creationId xmlns:a16="http://schemas.microsoft.com/office/drawing/2014/main" id="{03CAD4C0-E8E5-C2A4-63AD-58491AA5A96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997D40C0-5E3E-5340-DE76-F77AAE061B7F}"/>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a:buNone/>
            </a:pPr>
            <a:endParaRPr lang="en-US"/>
          </a:p>
          <a:p>
            <a:pPr marL="0" indent="0">
              <a:buNone/>
            </a:pPr>
            <a:endParaRPr lang="en-US"/>
          </a:p>
        </p:txBody>
      </p:sp>
      <p:pic>
        <p:nvPicPr>
          <p:cNvPr id="3" name="Picture 2">
            <a:extLst>
              <a:ext uri="{FF2B5EF4-FFF2-40B4-BE49-F238E27FC236}">
                <a16:creationId xmlns:a16="http://schemas.microsoft.com/office/drawing/2014/main" id="{CAF2E788-42D4-2654-52BA-301D067CCD10}"/>
              </a:ext>
            </a:extLst>
          </p:cNvPr>
          <p:cNvPicPr>
            <a:picLocks noChangeAspect="1"/>
          </p:cNvPicPr>
          <p:nvPr/>
        </p:nvPicPr>
        <p:blipFill>
          <a:blip r:embed="rId3"/>
          <a:stretch>
            <a:fillRect/>
          </a:stretch>
        </p:blipFill>
        <p:spPr>
          <a:xfrm>
            <a:off x="6935229" y="4017355"/>
            <a:ext cx="4855780" cy="2145171"/>
          </a:xfrm>
          <a:prstGeom prst="rect">
            <a:avLst/>
          </a:prstGeom>
        </p:spPr>
      </p:pic>
      <p:pic>
        <p:nvPicPr>
          <p:cNvPr id="9" name="Picture 8">
            <a:extLst>
              <a:ext uri="{FF2B5EF4-FFF2-40B4-BE49-F238E27FC236}">
                <a16:creationId xmlns:a16="http://schemas.microsoft.com/office/drawing/2014/main" id="{8039FF25-84B9-285F-90BF-0282A232EF24}"/>
              </a:ext>
            </a:extLst>
          </p:cNvPr>
          <p:cNvPicPr>
            <a:picLocks noChangeAspect="1"/>
          </p:cNvPicPr>
          <p:nvPr/>
        </p:nvPicPr>
        <p:blipFill>
          <a:blip r:embed="rId4"/>
          <a:stretch>
            <a:fillRect/>
          </a:stretch>
        </p:blipFill>
        <p:spPr>
          <a:xfrm>
            <a:off x="7001641" y="1353424"/>
            <a:ext cx="4535245" cy="2426379"/>
          </a:xfrm>
          <a:prstGeom prst="rect">
            <a:avLst/>
          </a:prstGeom>
        </p:spPr>
      </p:pic>
      <p:pic>
        <p:nvPicPr>
          <p:cNvPr id="2" name="Picture 1">
            <a:extLst>
              <a:ext uri="{FF2B5EF4-FFF2-40B4-BE49-F238E27FC236}">
                <a16:creationId xmlns:a16="http://schemas.microsoft.com/office/drawing/2014/main" id="{D8CB38D5-E5C0-DD41-AF67-76901F3B2899}"/>
              </a:ext>
            </a:extLst>
          </p:cNvPr>
          <p:cNvPicPr>
            <a:picLocks noChangeAspect="1"/>
          </p:cNvPicPr>
          <p:nvPr/>
        </p:nvPicPr>
        <p:blipFill>
          <a:blip r:embed="rId5"/>
          <a:stretch>
            <a:fillRect/>
          </a:stretch>
        </p:blipFill>
        <p:spPr>
          <a:xfrm>
            <a:off x="3391175" y="1273677"/>
            <a:ext cx="3348248" cy="5023236"/>
          </a:xfrm>
          <a:prstGeom prst="rect">
            <a:avLst/>
          </a:prstGeom>
        </p:spPr>
      </p:pic>
      <p:pic>
        <p:nvPicPr>
          <p:cNvPr id="6" name="Picture 5">
            <a:extLst>
              <a:ext uri="{FF2B5EF4-FFF2-40B4-BE49-F238E27FC236}">
                <a16:creationId xmlns:a16="http://schemas.microsoft.com/office/drawing/2014/main" id="{5E4C1563-F8C6-C9AC-12A0-DB4CF674AE30}"/>
              </a:ext>
            </a:extLst>
          </p:cNvPr>
          <p:cNvPicPr>
            <a:picLocks noChangeAspect="1"/>
          </p:cNvPicPr>
          <p:nvPr/>
        </p:nvPicPr>
        <p:blipFill>
          <a:blip r:embed="rId6"/>
          <a:stretch>
            <a:fillRect/>
          </a:stretch>
        </p:blipFill>
        <p:spPr>
          <a:xfrm>
            <a:off x="18194" y="1300671"/>
            <a:ext cx="3431135" cy="5013742"/>
          </a:xfrm>
          <a:prstGeom prst="rect">
            <a:avLst/>
          </a:prstGeom>
        </p:spPr>
      </p:pic>
    </p:spTree>
    <p:extLst>
      <p:ext uri="{BB962C8B-B14F-4D97-AF65-F5344CB8AC3E}">
        <p14:creationId xmlns:p14="http://schemas.microsoft.com/office/powerpoint/2010/main" val="3560299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2" name="Picture 1">
            <a:extLst>
              <a:ext uri="{FF2B5EF4-FFF2-40B4-BE49-F238E27FC236}">
                <a16:creationId xmlns:a16="http://schemas.microsoft.com/office/drawing/2014/main" id="{49DAEB85-5532-EF24-2FAD-38082FD19497}"/>
              </a:ext>
            </a:extLst>
          </p:cNvPr>
          <p:cNvPicPr>
            <a:picLocks noChangeAspect="1"/>
          </p:cNvPicPr>
          <p:nvPr/>
        </p:nvPicPr>
        <p:blipFill>
          <a:blip r:embed="rId3"/>
          <a:stretch>
            <a:fillRect/>
          </a:stretch>
        </p:blipFill>
        <p:spPr>
          <a:xfrm>
            <a:off x="2944412" y="1271752"/>
            <a:ext cx="2892573" cy="5559974"/>
          </a:xfrm>
          <a:prstGeom prst="rect">
            <a:avLst/>
          </a:prstGeom>
        </p:spPr>
      </p:pic>
      <p:pic>
        <p:nvPicPr>
          <p:cNvPr id="3" name="Picture 2">
            <a:extLst>
              <a:ext uri="{FF2B5EF4-FFF2-40B4-BE49-F238E27FC236}">
                <a16:creationId xmlns:a16="http://schemas.microsoft.com/office/drawing/2014/main" id="{5767A152-CC4A-FE3F-AB77-345FCDB3E4A9}"/>
              </a:ext>
            </a:extLst>
          </p:cNvPr>
          <p:cNvPicPr>
            <a:picLocks noChangeAspect="1"/>
          </p:cNvPicPr>
          <p:nvPr/>
        </p:nvPicPr>
        <p:blipFill>
          <a:blip r:embed="rId4"/>
          <a:stretch>
            <a:fillRect/>
          </a:stretch>
        </p:blipFill>
        <p:spPr>
          <a:xfrm>
            <a:off x="5837884" y="1271752"/>
            <a:ext cx="2823255" cy="5465380"/>
          </a:xfrm>
          <a:prstGeom prst="rect">
            <a:avLst/>
          </a:prstGeom>
        </p:spPr>
      </p:pic>
      <p:pic>
        <p:nvPicPr>
          <p:cNvPr id="6" name="Picture 5">
            <a:extLst>
              <a:ext uri="{FF2B5EF4-FFF2-40B4-BE49-F238E27FC236}">
                <a16:creationId xmlns:a16="http://schemas.microsoft.com/office/drawing/2014/main" id="{145A3F22-52E7-E219-2B60-8C20515D9A51}"/>
              </a:ext>
            </a:extLst>
          </p:cNvPr>
          <p:cNvPicPr>
            <a:picLocks noChangeAspect="1"/>
          </p:cNvPicPr>
          <p:nvPr/>
        </p:nvPicPr>
        <p:blipFill>
          <a:blip r:embed="rId5"/>
          <a:stretch>
            <a:fillRect/>
          </a:stretch>
        </p:blipFill>
        <p:spPr>
          <a:xfrm>
            <a:off x="8822998" y="1366345"/>
            <a:ext cx="2970048" cy="5475890"/>
          </a:xfrm>
          <a:prstGeom prst="rect">
            <a:avLst/>
          </a:prstGeom>
        </p:spPr>
      </p:pic>
      <p:pic>
        <p:nvPicPr>
          <p:cNvPr id="9" name="Picture 8">
            <a:extLst>
              <a:ext uri="{FF2B5EF4-FFF2-40B4-BE49-F238E27FC236}">
                <a16:creationId xmlns:a16="http://schemas.microsoft.com/office/drawing/2014/main" id="{DD8422A7-BA46-0E53-837A-318294AB3FB7}"/>
              </a:ext>
            </a:extLst>
          </p:cNvPr>
          <p:cNvPicPr>
            <a:picLocks noChangeAspect="1"/>
          </p:cNvPicPr>
          <p:nvPr/>
        </p:nvPicPr>
        <p:blipFill>
          <a:blip r:embed="rId6"/>
          <a:stretch>
            <a:fillRect/>
          </a:stretch>
        </p:blipFill>
        <p:spPr>
          <a:xfrm>
            <a:off x="1435" y="1271752"/>
            <a:ext cx="2945286" cy="545486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2" name="Picture 1">
            <a:extLst>
              <a:ext uri="{FF2B5EF4-FFF2-40B4-BE49-F238E27FC236}">
                <a16:creationId xmlns:a16="http://schemas.microsoft.com/office/drawing/2014/main" id="{00C5B98C-D426-708F-8F06-95CC7175A957}"/>
              </a:ext>
            </a:extLst>
          </p:cNvPr>
          <p:cNvPicPr>
            <a:picLocks noChangeAspect="1"/>
          </p:cNvPicPr>
          <p:nvPr/>
        </p:nvPicPr>
        <p:blipFill>
          <a:blip r:embed="rId3"/>
          <a:stretch>
            <a:fillRect/>
          </a:stretch>
        </p:blipFill>
        <p:spPr>
          <a:xfrm>
            <a:off x="4445875" y="903644"/>
            <a:ext cx="7404539" cy="2990683"/>
          </a:xfrm>
          <a:prstGeom prst="rect">
            <a:avLst/>
          </a:prstGeom>
        </p:spPr>
      </p:pic>
      <p:pic>
        <p:nvPicPr>
          <p:cNvPr id="3" name="Picture 2">
            <a:extLst>
              <a:ext uri="{FF2B5EF4-FFF2-40B4-BE49-F238E27FC236}">
                <a16:creationId xmlns:a16="http://schemas.microsoft.com/office/drawing/2014/main" id="{757B3930-552E-70F4-C6BA-3231A71E2ADE}"/>
              </a:ext>
            </a:extLst>
          </p:cNvPr>
          <p:cNvPicPr>
            <a:picLocks noChangeAspect="1"/>
          </p:cNvPicPr>
          <p:nvPr/>
        </p:nvPicPr>
        <p:blipFill>
          <a:blip r:embed="rId4"/>
          <a:stretch>
            <a:fillRect/>
          </a:stretch>
        </p:blipFill>
        <p:spPr>
          <a:xfrm>
            <a:off x="4451132" y="4005105"/>
            <a:ext cx="7399283" cy="2852233"/>
          </a:xfrm>
          <a:prstGeom prst="rect">
            <a:avLst/>
          </a:prstGeom>
        </p:spPr>
      </p:pic>
      <p:pic>
        <p:nvPicPr>
          <p:cNvPr id="6" name="Picture 5">
            <a:extLst>
              <a:ext uri="{FF2B5EF4-FFF2-40B4-BE49-F238E27FC236}">
                <a16:creationId xmlns:a16="http://schemas.microsoft.com/office/drawing/2014/main" id="{FD02391E-C72E-C786-0E66-F7F0884512F8}"/>
              </a:ext>
            </a:extLst>
          </p:cNvPr>
          <p:cNvPicPr>
            <a:picLocks noChangeAspect="1"/>
          </p:cNvPicPr>
          <p:nvPr/>
        </p:nvPicPr>
        <p:blipFill>
          <a:blip r:embed="rId5"/>
          <a:stretch>
            <a:fillRect/>
          </a:stretch>
        </p:blipFill>
        <p:spPr>
          <a:xfrm>
            <a:off x="428420" y="1108841"/>
            <a:ext cx="3610056" cy="3210912"/>
          </a:xfrm>
          <a:prstGeom prst="rect">
            <a:avLst/>
          </a:prstGeom>
        </p:spPr>
      </p:pic>
      <p:pic>
        <p:nvPicPr>
          <p:cNvPr id="9" name="Picture 8">
            <a:extLst>
              <a:ext uri="{FF2B5EF4-FFF2-40B4-BE49-F238E27FC236}">
                <a16:creationId xmlns:a16="http://schemas.microsoft.com/office/drawing/2014/main" id="{C04CCB8D-42DA-BABC-D07D-89DC14EB1809}"/>
              </a:ext>
            </a:extLst>
          </p:cNvPr>
          <p:cNvPicPr>
            <a:picLocks noChangeAspect="1"/>
          </p:cNvPicPr>
          <p:nvPr/>
        </p:nvPicPr>
        <p:blipFill>
          <a:blip r:embed="rId6"/>
          <a:stretch>
            <a:fillRect/>
          </a:stretch>
        </p:blipFill>
        <p:spPr>
          <a:xfrm>
            <a:off x="616168" y="4384127"/>
            <a:ext cx="3350172" cy="237271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498637" y="370589"/>
            <a:ext cx="4913118" cy="668053"/>
          </a:xfrm>
        </p:spPr>
        <p:txBody>
          <a:bodyPr>
            <a:normAutofit fontScale="90000"/>
          </a:bodyPr>
          <a:lstStyle/>
          <a:p>
            <a:r>
              <a:rPr lang="en-IN" sz="4000" dirty="0"/>
              <a:t>Future scope</a:t>
            </a:r>
            <a:br>
              <a:rPr lang="en-IN" sz="4000" dirty="0"/>
            </a:br>
            <a:br>
              <a:rPr lang="en-IN" sz="4000" dirty="0"/>
            </a:br>
            <a:r>
              <a:rPr lang="en-IN" sz="1200" b="0" dirty="0">
                <a:ea typeface="+mj-lt"/>
                <a:cs typeface="+mj-lt"/>
              </a:rPr>
              <a:t>The future scope of the </a:t>
            </a:r>
            <a:r>
              <a:rPr lang="en-IN" sz="1200" dirty="0">
                <a:ea typeface="+mj-lt"/>
                <a:cs typeface="+mj-lt"/>
              </a:rPr>
              <a:t>Seasonal Agriculture Performance Analysis</a:t>
            </a:r>
            <a:r>
              <a:rPr lang="en-IN" sz="1200" b="0" dirty="0">
                <a:ea typeface="+mj-lt"/>
                <a:cs typeface="+mj-lt"/>
              </a:rPr>
              <a:t> project includes:</a:t>
            </a:r>
            <a:br>
              <a:rPr lang="en-IN" sz="1200" b="0" dirty="0">
                <a:ea typeface="+mj-lt"/>
                <a:cs typeface="+mj-lt"/>
              </a:rPr>
            </a:br>
            <a:endParaRPr lang="en-IN" sz="1200"/>
          </a:p>
          <a:p>
            <a:r>
              <a:rPr lang="en-IN" sz="1200" b="0" dirty="0">
                <a:ea typeface="+mj-lt"/>
                <a:cs typeface="+mj-lt"/>
              </a:rPr>
              <a:t>🤖 </a:t>
            </a:r>
            <a:r>
              <a:rPr lang="en-IN" sz="1200" dirty="0">
                <a:ea typeface="+mj-lt"/>
                <a:cs typeface="+mj-lt"/>
              </a:rPr>
              <a:t>Predictive Analysis</a:t>
            </a:r>
            <a:r>
              <a:rPr lang="en-IN" sz="1200" b="0" dirty="0">
                <a:ea typeface="+mj-lt"/>
                <a:cs typeface="+mj-lt"/>
              </a:rPr>
              <a:t> – Machine learning models can be developed to predict crop yield and agricultural performance based on seasonal and environmental conditions.</a:t>
            </a:r>
            <a:br>
              <a:rPr lang="en-IN" sz="1200" b="0" dirty="0">
                <a:ea typeface="+mj-lt"/>
                <a:cs typeface="+mj-lt"/>
              </a:rPr>
            </a:br>
            <a:endParaRPr lang="en-IN" sz="1200"/>
          </a:p>
          <a:p>
            <a:r>
              <a:rPr lang="en-IN" sz="1200" b="0" dirty="0">
                <a:ea typeface="+mj-lt"/>
                <a:cs typeface="+mj-lt"/>
              </a:rPr>
              <a:t>🌦️ </a:t>
            </a:r>
            <a:r>
              <a:rPr lang="en-IN" sz="1200" dirty="0">
                <a:ea typeface="+mj-lt"/>
                <a:cs typeface="+mj-lt"/>
              </a:rPr>
              <a:t>Weather Forecast Integration</a:t>
            </a:r>
            <a:r>
              <a:rPr lang="en-IN" sz="1200" b="0" dirty="0">
                <a:ea typeface="+mj-lt"/>
                <a:cs typeface="+mj-lt"/>
              </a:rPr>
              <a:t> – Real-time weather and rainfall data can be integrated to provide more accurate seasonal predictions.</a:t>
            </a:r>
            <a:br>
              <a:rPr lang="en-IN" sz="1200" b="0" dirty="0">
                <a:ea typeface="+mj-lt"/>
                <a:cs typeface="+mj-lt"/>
              </a:rPr>
            </a:br>
            <a:endParaRPr lang="en-IN" sz="1200"/>
          </a:p>
          <a:p>
            <a:r>
              <a:rPr lang="en-IN" sz="1200" b="0" dirty="0">
                <a:ea typeface="+mj-lt"/>
                <a:cs typeface="+mj-lt"/>
              </a:rPr>
              <a:t>📱 </a:t>
            </a:r>
            <a:r>
              <a:rPr lang="en-IN" sz="1200" dirty="0">
                <a:ea typeface="+mj-lt"/>
                <a:cs typeface="+mj-lt"/>
              </a:rPr>
              <a:t>Farmer-Friendly Application</a:t>
            </a:r>
            <a:r>
              <a:rPr lang="en-IN" sz="1200" b="0" dirty="0">
                <a:ea typeface="+mj-lt"/>
                <a:cs typeface="+mj-lt"/>
              </a:rPr>
              <a:t> – The analysis can be converted into a mobile or web application that provides useful insights directly to farmers.</a:t>
            </a:r>
            <a:br>
              <a:rPr lang="en-IN" sz="1200" b="0" dirty="0">
                <a:ea typeface="+mj-lt"/>
                <a:cs typeface="+mj-lt"/>
              </a:rPr>
            </a:br>
            <a:endParaRPr lang="en-IN" sz="1200"/>
          </a:p>
          <a:p>
            <a:r>
              <a:rPr lang="en-IN" sz="1200" b="0" dirty="0">
                <a:ea typeface="+mj-lt"/>
                <a:cs typeface="+mj-lt"/>
              </a:rPr>
              <a:t>💧 </a:t>
            </a:r>
            <a:r>
              <a:rPr lang="en-IN" sz="1200" dirty="0">
                <a:ea typeface="+mj-lt"/>
                <a:cs typeface="+mj-lt"/>
              </a:rPr>
              <a:t>Smart Resource Management</a:t>
            </a:r>
            <a:r>
              <a:rPr lang="en-IN" sz="1200" b="0" dirty="0">
                <a:ea typeface="+mj-lt"/>
                <a:cs typeface="+mj-lt"/>
              </a:rPr>
              <a:t> – Future systems can recommend optimal water, fertilizer and pesticide usage to improve resource efficiency.</a:t>
            </a:r>
            <a:br>
              <a:rPr lang="en-IN" sz="1200" b="0" dirty="0">
                <a:ea typeface="+mj-lt"/>
                <a:cs typeface="+mj-lt"/>
              </a:rPr>
            </a:br>
            <a:endParaRPr lang="en-IN" sz="1200"/>
          </a:p>
          <a:p>
            <a:r>
              <a:rPr lang="en-IN" sz="1200" b="0" dirty="0">
                <a:ea typeface="+mj-lt"/>
                <a:cs typeface="+mj-lt"/>
              </a:rPr>
              <a:t>🌾 </a:t>
            </a:r>
            <a:r>
              <a:rPr lang="en-IN" sz="1200" dirty="0">
                <a:ea typeface="+mj-lt"/>
                <a:cs typeface="+mj-lt"/>
              </a:rPr>
              <a:t>Crop Recommendation</a:t>
            </a:r>
            <a:r>
              <a:rPr lang="en-IN" sz="1200" b="0" dirty="0">
                <a:ea typeface="+mj-lt"/>
                <a:cs typeface="+mj-lt"/>
              </a:rPr>
              <a:t> – A recommendation system can suggest suitable crops based on soil, weather, season and regional conditions.</a:t>
            </a:r>
            <a:br>
              <a:rPr lang="en-IN" sz="1200" b="0" dirty="0">
                <a:ea typeface="+mj-lt"/>
                <a:cs typeface="+mj-lt"/>
              </a:rPr>
            </a:br>
            <a:endParaRPr lang="en-IN" sz="1200"/>
          </a:p>
          <a:p>
            <a:r>
              <a:rPr lang="en-IN" sz="1200" b="0" dirty="0">
                <a:ea typeface="+mj-lt"/>
                <a:cs typeface="+mj-lt"/>
              </a:rPr>
              <a:t>📊 </a:t>
            </a:r>
            <a:r>
              <a:rPr lang="en-IN" sz="1200" dirty="0">
                <a:ea typeface="+mj-lt"/>
                <a:cs typeface="+mj-lt"/>
              </a:rPr>
              <a:t>Interactive Dashboard</a:t>
            </a:r>
            <a:r>
              <a:rPr lang="en-IN" sz="1200" b="0" dirty="0">
                <a:ea typeface="+mj-lt"/>
                <a:cs typeface="+mj-lt"/>
              </a:rPr>
              <a:t> – Tools such as Power BI or Tableau can be used to create interactive dashboards for monitoring agricultural performance.</a:t>
            </a:r>
            <a:br>
              <a:rPr lang="en-IN" sz="1200" b="0" dirty="0">
                <a:ea typeface="+mj-lt"/>
                <a:cs typeface="+mj-lt"/>
              </a:rPr>
            </a:br>
            <a:endParaRPr lang="en-IN" sz="1200"/>
          </a:p>
          <a:p>
            <a:r>
              <a:rPr lang="en-IN" sz="1200" b="0" dirty="0">
                <a:ea typeface="+mj-lt"/>
                <a:cs typeface="+mj-lt"/>
              </a:rPr>
              <a:t>🗺️ </a:t>
            </a:r>
            <a:r>
              <a:rPr lang="en-IN" sz="1200" dirty="0">
                <a:ea typeface="+mj-lt"/>
                <a:cs typeface="+mj-lt"/>
              </a:rPr>
              <a:t>Regional-Level Analysis</a:t>
            </a:r>
            <a:r>
              <a:rPr lang="en-IN" sz="1200" b="0" dirty="0">
                <a:ea typeface="+mj-lt"/>
                <a:cs typeface="+mj-lt"/>
              </a:rPr>
              <a:t> – More detailed district-level and geographical analysis can be performed to identify region-specific agricultural patterns.</a:t>
            </a:r>
            <a:br>
              <a:rPr lang="en-IN" sz="1200" b="0" dirty="0">
                <a:ea typeface="+mj-lt"/>
                <a:cs typeface="+mj-lt"/>
              </a:rPr>
            </a:br>
            <a:endParaRPr lang="en-IN" sz="1200"/>
          </a:p>
          <a:p>
            <a:r>
              <a:rPr lang="en-IN" sz="1200" b="0" dirty="0">
                <a:ea typeface="+mj-lt"/>
                <a:cs typeface="+mj-lt"/>
              </a:rPr>
              <a:t>📡 </a:t>
            </a:r>
            <a:r>
              <a:rPr lang="en-IN" sz="1200" dirty="0">
                <a:ea typeface="+mj-lt"/>
                <a:cs typeface="+mj-lt"/>
              </a:rPr>
              <a:t>IoT Integration</a:t>
            </a:r>
            <a:r>
              <a:rPr lang="en-IN" sz="1200" b="0" dirty="0">
                <a:ea typeface="+mj-lt"/>
                <a:cs typeface="+mj-lt"/>
              </a:rPr>
              <a:t> – Sensors can provide real-time information about soil moisture, temperature and other farm conditions.</a:t>
            </a:r>
            <a:endParaRPr lang="en-IN" sz="1200"/>
          </a:p>
          <a:p>
            <a:endParaRPr lang="en-IN" sz="1200"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3CC3FE71-9532-E98C-2A60-CAF9022AE850}"/>
              </a:ext>
            </a:extLst>
          </p:cNvPr>
          <p:cNvSpPr txBox="1"/>
          <p:nvPr/>
        </p:nvSpPr>
        <p:spPr>
          <a:xfrm>
            <a:off x="675033" y="1275522"/>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hlinkClick r:id="rId3"/>
              </a:rPr>
              <a:t>https://github.com/mxnishhh/VOIS_Major_Project</a:t>
            </a:r>
            <a:endParaRPr lang="en-US"/>
          </a:p>
          <a:p>
            <a:pPr algn="ctr"/>
            <a:endParaRPr lang="en-US"/>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DC5C17FF-4630-F5AC-6037-93D799B20AB7}"/>
              </a:ext>
            </a:extLst>
          </p:cNvPr>
          <p:cNvPicPr>
            <a:picLocks noChangeAspect="1"/>
          </p:cNvPicPr>
          <p:nvPr/>
        </p:nvPicPr>
        <p:blipFill>
          <a:blip r:embed="rId3"/>
          <a:stretch>
            <a:fillRect/>
          </a:stretch>
        </p:blipFill>
        <p:spPr>
          <a:xfrm>
            <a:off x="533557" y="1602827"/>
            <a:ext cx="7682750" cy="479797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Project Title: Seasonal Agriculture Performance Analysis</vt:lpstr>
      <vt:lpstr>PROBLEM  STATEMENT</vt:lpstr>
      <vt:lpstr>Project Description: Seasonal Agriculture Performance Analysis is a data analytics project focused on understanding how agricultural performance changes across different seasons. The project uses a dataset containing 4,000 farm-level records and 28 variables, covering information such as crops, locations, weather conditions, soil characteristics, irrigation methods, agricultural inputs, yield, production, water usage and economic outcomes.  The analysis explores seasonal patterns, trends, relationships and variations in agricultural performance. It compares yield, production, profit, resource usage and environmental conditions across seasons, crops, states and irrigation methods. Statistical and visualization techniques are used to identify significant differences, relationships and unusual observations.  The project ultimately aims to generate evidence-based insights and practical recommendations that can help in understanding seasonal agricultural performance and support better agricultural planning and resource management. </vt:lpstr>
      <vt:lpstr>WHO ARE THE END USERS?</vt:lpstr>
      <vt:lpstr>Technology Used</vt:lpstr>
      <vt:lpstr>RESULTS </vt:lpstr>
      <vt:lpstr>RESULTS </vt:lpstr>
      <vt:lpstr>RESULTS </vt:lpstr>
      <vt:lpstr>RESULTS </vt:lpstr>
      <vt:lpstr>RESULTS </vt:lpstr>
      <vt:lpstr>Future scope  The future scope of the Seasonal Agriculture Performance Analysis project includes:  🤖 Predictive Analysis – Machine learning models can be developed to predict crop yield and agricultural performance based on seasonal and environmental conditions.  🌦️ Weather Forecast Integration – Real-time weather and rainfall data can be integrated to provide more accurate seasonal predictions.  📱 Farmer-Friendly Application – The analysis can be converted into a mobile or web application that provides useful insights directly to farmers.  💧 Smart Resource Management – Future systems can recommend optimal water, fertilizer and pesticide usage to improve resource efficiency.  🌾 Crop Recommendation – A recommendation system can suggest suitable crops based on soil, weather, season and regional conditions.  📊 Interactive Dashboard – Tools such as Power BI or Tableau can be used to create interactive dashboards for monitoring agricultural performance.  🗺️ Regional-Level Analysis – More detailed district-level and geographical analysis can be performed to identify region-specific agricultural patterns.  📡 IoT Integration – Sensors can provide real-time information about soil moisture, temperature and other farm conditions. </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310</cp:revision>
  <dcterms:created xsi:type="dcterms:W3CDTF">2021-07-11T13:13:15Z</dcterms:created>
  <dcterms:modified xsi:type="dcterms:W3CDTF">2026-09-09T07:12:04Z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